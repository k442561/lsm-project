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CAPSTONE INNOVATION &amp; COMMUTE RECOVERY ENGINE</a:t>
            </a:r>
          </a:p>
          <a:p>
            <a:pPr>
              <a:spcBef>
                <a:spcPts val="800"/>
              </a:spcBef>
              <a:defRPr sz="4600" b="1">
                <a:solidFill>
                  <a:srgbClr val="F8FAFC"/>
                </a:solidFill>
              </a:defRPr>
            </a:pPr>
            <a:r>
              <a:t>Mobility Recovery Engine</a:t>
            </a:r>
          </a:p>
          <a:p>
            <a:pPr>
              <a:spcBef>
                <a:spcPts val="600"/>
              </a:spcBef>
              <a:defRPr sz="2200" b="1">
                <a:solidFill>
                  <a:srgbClr val="10B981"/>
                </a:solidFill>
              </a:defRPr>
            </a:pPr>
            <a:r>
              <a:t>Deadline-Driven Route Recovery &amp; Stochastic Arrival Reliability Platform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A full-stack, zero-cost intelligence system designed for students and working professionals. Instead of only computing the shortest path, it calculates the route with the highest probability of arriving before a strict deadline, backed by 1,000-run Monte Carlo simulations, A* road heuristics, and live recovery plans.</a:t>
            </a:r>
          </a:p>
          <a:p>
            <a:pPr>
              <a:spcBef>
                <a:spcPts val="2200"/>
              </a:spcBef>
              <a:defRPr sz="1400" b="1">
                <a:solidFill>
                  <a:srgbClr val="F59E0B"/>
                </a:solidFill>
              </a:defRPr>
            </a:pPr>
            <a:r>
              <a:t>KEY PILLARS: Pan-India A* Multi-Routing  •  Monte Carlo Simulation  •  Latest Safe Departure Countdown  •  Offline PWA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PROBLEM STATEMENT &amp; COMMUTER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Conventional GPS Fails Deadline-Bound Commuters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The Average-Time Illusion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Apps like Google Maps optimize only for static average or shortest distance.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They assume constant road conditions, ignoring transit delay variance and traffic volatility.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A 10-minute unexpected bottleneck cascades into missed connections and ruined schedules.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63040"/>
            <a:ext cx="329184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The Brutal Cost of Being Late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University students face strict 75% attendance cutoffs and locked exam hall doors.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Working adults face salary deductions, missed client meetings, and disciplinary marks.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Commuters suffer severe stress and anxiety over unpredictable bus and train timings.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63040"/>
            <a:ext cx="329184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6459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Zero Proactive Recovery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Current apps never provide a 'Latest Safe Departure (LSD)' countdown.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When a commuter is running late or misses a transit leg, existing tools leave them stranded.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Commuters need guaranteed probability of on-time arrival, not just nominal travel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THE CORE QUESTION: Conventional GPS answers 'Which route is shortest?' — Commuters urgently need: 'Will I make it before my hard deadline?'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USER RESEARCH &amp; 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Target Personas: Who Needs This Engine Most?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Persona 1: Rahul Sharma (21)</a:t>
            </a:r>
          </a:p>
          <a:p>
            <a:pPr>
              <a:spcBef>
                <a:spcPts val="400"/>
              </a:spcBef>
              <a:defRPr sz="1300" b="1">
                <a:solidFill>
                  <a:srgbClr val="06B6D4"/>
                </a:solidFill>
              </a:defRPr>
            </a:pPr>
            <a:r>
              <a:t>COLLEGE STUDENT (VIT VELLORE)</a:t>
            </a:r>
          </a:p>
          <a:p>
            <a:pPr>
              <a:spcBef>
                <a:spcPts val="1000"/>
              </a:spcBef>
              <a:defRPr b="1" sz="1500">
                <a:solidFill>
                  <a:srgbClr val="F59E0B"/>
                </a:solidFill>
              </a:defRPr>
            </a:pPr>
            <a:r>
              <a:t>Daily Context: </a:t>
            </a:r>
            <a:r>
              <a:rPr b="0">
                <a:solidFill>
                  <a:srgbClr val="F8FAFC"/>
                </a:solidFill>
              </a:rPr>
              <a:t>Commutes between Katpadi, Arani &amp; Tiruvannamalai for labs &amp; exams.</a:t>
            </a:r>
          </a:p>
          <a:p>
            <a:pPr>
              <a:spcBef>
                <a:spcPts val="1000"/>
              </a:spcBef>
              <a:defRPr b="1" sz="1500">
                <a:solidFill>
                  <a:srgbClr val="F59E0B"/>
                </a:solidFill>
              </a:defRPr>
            </a:pPr>
            <a:r>
              <a:t>Critical Pain: </a:t>
            </a:r>
            <a:r>
              <a:rPr b="0">
                <a:solidFill>
                  <a:srgbClr val="F8FAFC"/>
                </a:solidFill>
              </a:rPr>
              <a:t>Zero tolerance for being late. 75% attendance rule means 1 late arrival blocks semester credits.</a:t>
            </a:r>
          </a:p>
          <a:p>
            <a:pPr>
              <a:spcBef>
                <a:spcPts val="1000"/>
              </a:spcBef>
              <a:defRPr b="1" sz="1500">
                <a:solidFill>
                  <a:srgbClr val="F59E0B"/>
                </a:solidFill>
              </a:defRPr>
            </a:pPr>
            <a:r>
              <a:t>Transit Reality: </a:t>
            </a:r>
            <a:r>
              <a:rPr b="0">
                <a:solidFill>
                  <a:srgbClr val="F8FAFC"/>
                </a:solidFill>
              </a:rPr>
              <a:t>Relies on Tamil Nadu State buses and trains with unpredictable delay spreads (+/- 25 mins).</a:t>
            </a:r>
          </a:p>
          <a:p>
            <a:pPr>
              <a:spcBef>
                <a:spcPts val="1000"/>
              </a:spcBef>
              <a:defRPr b="1" sz="1500">
                <a:solidFill>
                  <a:srgbClr val="F59E0B"/>
                </a:solidFill>
              </a:defRPr>
            </a:pPr>
            <a:r>
              <a:t>Primary Need: </a:t>
            </a:r>
            <a:r>
              <a:rPr b="0">
                <a:solidFill>
                  <a:srgbClr val="F8FAFC"/>
                </a:solidFill>
              </a:rPr>
              <a:t>Needs a countdown to the 'Latest Safe Departure' and an instant backup route if a bus is missed.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Persona 2: Priya Menon (28)</a:t>
            </a:r>
          </a:p>
          <a:p>
            <a:pPr>
              <a:spcBef>
                <a:spcPts val="400"/>
              </a:spcBef>
              <a:defRPr sz="1300" b="1">
                <a:solidFill>
                  <a:srgbClr val="10B981"/>
                </a:solidFill>
              </a:defRPr>
            </a:pPr>
            <a:r>
              <a:t>WORKING PROFESSIONAL &amp; REGULAR COMMUTER</a:t>
            </a:r>
          </a:p>
          <a:p>
            <a:pPr>
              <a:spcBef>
                <a:spcPts val="1000"/>
              </a:spcBef>
              <a:defRPr b="1" sz="1500">
                <a:solidFill>
                  <a:srgbClr val="F59E0B"/>
                </a:solidFill>
              </a:defRPr>
            </a:pPr>
            <a:r>
              <a:t>Daily Context: </a:t>
            </a:r>
            <a:r>
              <a:rPr b="0">
                <a:solidFill>
                  <a:srgbClr val="F8FAFC"/>
                </a:solidFill>
              </a:rPr>
              <a:t>Daily office commuter across regional highway corridors and city transit.</a:t>
            </a:r>
          </a:p>
          <a:p>
            <a:pPr>
              <a:spcBef>
                <a:spcPts val="1000"/>
              </a:spcBef>
              <a:defRPr b="1" sz="1500">
                <a:solidFill>
                  <a:srgbClr val="F59E0B"/>
                </a:solidFill>
              </a:defRPr>
            </a:pPr>
            <a:r>
              <a:t>Critical Pain: </a:t>
            </a:r>
            <a:r>
              <a:rPr b="0">
                <a:solidFill>
                  <a:srgbClr val="F8FAFC"/>
                </a:solidFill>
              </a:rPr>
              <a:t>Biometric punch-in at 9:15 AM sharp. Accidental touches on GPS phone reroute her into traffic bottlenecks.</a:t>
            </a:r>
          </a:p>
          <a:p>
            <a:pPr>
              <a:spcBef>
                <a:spcPts val="1000"/>
              </a:spcBef>
              <a:defRPr b="1" sz="1500">
                <a:solidFill>
                  <a:srgbClr val="F59E0B"/>
                </a:solidFill>
              </a:defRPr>
            </a:pPr>
            <a:r>
              <a:t>Transit Reality: </a:t>
            </a:r>
            <a:r>
              <a:rPr b="0">
                <a:solidFill>
                  <a:srgbClr val="F8FAFC"/>
                </a:solidFill>
              </a:rPr>
              <a:t>Switches between car driving and bus transit depending on peak congestion.</a:t>
            </a:r>
          </a:p>
          <a:p>
            <a:pPr>
              <a:spcBef>
                <a:spcPts val="1000"/>
              </a:spcBef>
              <a:defRPr b="1" sz="1500">
                <a:solidFill>
                  <a:srgbClr val="F59E0B"/>
                </a:solidFill>
              </a:defRPr>
            </a:pPr>
            <a:r>
              <a:t>Primary Need: </a:t>
            </a:r>
            <a:r>
              <a:rPr b="0">
                <a:solidFill>
                  <a:srgbClr val="F8FAFC"/>
                </a:solidFill>
              </a:rPr>
              <a:t>Route locking protection against accidental screen taps, and side-by-side arrival probability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DESIGN THINKING &amp; USER EMPATHY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Empathy Map: The Emotional Journey of Late Commuters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THINKS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"Google Maps says 50 mins, but it always takes 75 mins in reality."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"If I miss the 8:15 bus, what is my emergency plan?"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"I wonder how much safety buffer I actually have before the deadline."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FEELS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Severe anxiety watching the digital clock tick closer to the deadline.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Frustration when unannounced traffic delays ruin an entire day's plans.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Helplessness when relying on infrequent transit with zero recovery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SAYS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"I cannot afford to be even 5 minutes late today!"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"Is there a reliable alternative highway, even if it's slightly longer?"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"Tell me the latest time I can leave my house safely!"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6695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DOES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Constantly checks clock while rushing through breakfast or meetings.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Takes reckless, high-risk detours in panic when stuck behind a truck.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• Reroutes phone by mistake due to sweaty hands or accidental screen touches.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PRODUCT-MARKET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Value Proposition Canvas: Aligning Customer Needs to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CUSTOMER PROFILE (Needs &amp; Friction)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CUSTOMER JOBS: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Arrive at exams, offices, or labs strictly before deadline.</a:t>
            </a:r>
            <a:br/>
            <a:r>
              <a:t>• Select optimal transport mode (Car, Bus, Train).</a:t>
            </a:r>
            <a:br/>
            <a:r>
              <a:t>• Maintain safety buffer against unexpected road gridlocks.</a:t>
            </a:r>
          </a:p>
          <a:p>
            <a:pPr>
              <a:spcBef>
                <a:spcPts val="1000"/>
              </a:spcBef>
              <a:defRPr sz="1600" b="1">
                <a:solidFill>
                  <a:srgbClr val="EF4444"/>
                </a:solidFill>
              </a:defRPr>
            </a:pPr>
            <a:r>
              <a:t>CUSTOMER PAINS: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Misleading 'nominal' travel times that ignore variability.</a:t>
            </a:r>
            <a:br/>
            <a:r>
              <a:t>• Zero recovery advice when late or when a connection is missed.</a:t>
            </a:r>
            <a:br/>
            <a:r>
              <a:t>• App freezes and lost routes during patchy internet in transit.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6002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VALUE MAP (Our Recovery Engine)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PRODUCTS &amp; SERVICES: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Full-Stack PWA Mobility Recovery Engine with A* Multi-Routing.</a:t>
            </a:r>
            <a:br/>
            <a:r>
              <a:t>• 1,000-run Monte Carlo Stochastic Engine evaluating arrival probability.</a:t>
            </a:r>
          </a:p>
          <a:p>
            <a:pPr>
              <a:spcBef>
                <a:spcPts val="1000"/>
              </a:spcBef>
              <a:defRPr sz="1600" b="1">
                <a:solidFill>
                  <a:srgbClr val="10B981"/>
                </a:solidFill>
              </a:defRPr>
            </a:pPr>
            <a:r>
              <a:t>PAIN RELIEVERS &amp; GAIN CREATORS: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Proactive Latest Safe Departure (LSD) with live countdown timer.</a:t>
            </a:r>
            <a:br/>
            <a:r>
              <a:t>• Automatic Contingency Plan: Best backup route if transit is missed.</a:t>
            </a:r>
            <a:br/>
            <a:r>
              <a:t>• Offline-first Service Worker cache for zero-connection reliability.</a:t>
            </a:r>
            <a:br/>
            <a:r>
              <a:t>• One-touch Route Locking with confirmation modal.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PRODUCT ARCHITECTURE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Minimum Viable Product (MVP): Delivered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FEATURE PILLAR 01: A* ROUTING &amp; DIVERSE ALTERNATIVES</a:t>
            </a:r>
          </a:p>
          <a:p>
            <a:pPr>
              <a:spcBef>
                <a:spcPts val="800"/>
              </a:spcBef>
              <a:defRPr sz="1500">
                <a:solidFill>
                  <a:srgbClr val="F8FAFC"/>
                </a:solidFill>
              </a:defRPr>
            </a:pPr>
            <a:r>
              <a:t>Pan-India graph routing using OSMnx/OSRM + Haversine heuristic. Penalty method generates &gt;= 3 diverse alternatives with &lt;80% overlap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6002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FEATURE PILLAR 02: MONTE CARLO RELIABILITY ENGINE</a:t>
            </a:r>
          </a:p>
          <a:p>
            <a:pPr>
              <a:spcBef>
                <a:spcPts val="800"/>
              </a:spcBef>
              <a:defRPr sz="1500">
                <a:solidFill>
                  <a:srgbClr val="F8FAFC"/>
                </a:solidFill>
              </a:defRPr>
            </a:pPr>
            <a:r>
              <a:t>1,000 iterations per route simulating Gaussian travel distributions. Calculates exact On-Time Probability (OTP %), Expected &amp; P90 Arrival.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FEATURE PILLAR 03: RECOVERY &amp; LATEST SAFE DEPARTURE</a:t>
            </a:r>
          </a:p>
          <a:p>
            <a:pPr>
              <a:spcBef>
                <a:spcPts val="800"/>
              </a:spcBef>
              <a:defRPr sz="1500">
                <a:solidFill>
                  <a:srgbClr val="F8FAFC"/>
                </a:solidFill>
              </a:defRPr>
            </a:pPr>
            <a:r>
              <a:t>Dynamic status classification (Can Make It / Risky / Cannot). Live countdown to Latest Safe Departure (LSD) and missed-transit contingency.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6695" y="4069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FEATURE PILLAR 04: PWA OFFLINE &amp; ROUTE LOCK PROTECTION</a:t>
            </a:r>
          </a:p>
          <a:p>
            <a:pPr>
              <a:spcBef>
                <a:spcPts val="800"/>
              </a:spcBef>
              <a:defRPr sz="1500">
                <a:solidFill>
                  <a:srgbClr val="F8FAFC"/>
                </a:solidFill>
              </a:defRPr>
            </a:pPr>
            <a:r>
              <a:t>Progressive Web App with Service Worker for offline commute tracking. Touch confirmation lock protects against accidental rerouting while moving.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USER EXPERIENCE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Our App Works: 4-Step Commuter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Trip Setup &amp; Deadline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Type source &amp; destination anywhere in India or drop pins on interactive map.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Enter current departure time and hard arrival deadline.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Select transit mode: Driving/Cab, Bus Transit, Train/Rail, or All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Multi-Corridor Routing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Engine computes 1 shortest route + 3 distinct alternative corridors.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Penalty method inflates costs on used edges to force non-overlapping paths.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Strict &lt;80% path overlap filter eliminates cosmetic redundant detours.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Monte Carlo Simulation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Runs 1,000 iterations per route drawing from empirical variance data.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Computes On-Time Probability (OTP %) and 90th percentile arrival (P90).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Derives Latest Safe Departure (LSD) with real-time countdown.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463040"/>
            <a:ext cx="25146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645920"/>
            <a:ext cx="2240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Side-by-Side Lock &amp; Go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Inspect candidate routes side-by-side with dedicated individual maps.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Confirm &amp; Lock route to prevent accidental touch rerouting during transit.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If transit delay occurs, engine instantly triggers missed-transit fallback.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ENGINEERING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4-Tier Full-Stack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08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TIER 1: CLIENT PRESENTATION (PWA)</a:t>
            </a:r>
            <a:r>
              <a:rPr sz="1300" b="0">
                <a:solidFill>
                  <a:srgbClr val="94A3B8"/>
                </a:solidFill>
              </a:rPr>
              <a:t>   [React 18 + Vite  •  Plain Neumorphic CSS  •  Leaflet.js  •  Service Worker]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Mobile-first tactile UI. Features side-by-side route maps, live LSD countdown timer, interactive pin-picker, and PWA cache for zero-connectivity offline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TIER 2: API GATEWAY &amp; CONTROLLER</a:t>
            </a:r>
            <a:r>
              <a:rPr sz="1300" b="0">
                <a:solidFill>
                  <a:srgbClr val="94A3B8"/>
                </a:solidFill>
              </a:rPr>
              <a:t>   [FastAPI (Python 3)  •  Uvicorn ASGI  •  Pydantic Schemas  •  CORS Middleware]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High-throughput asynchronous REST API providing /plan, /lock, /log, /history, /geocode, and /health endpoints with automated OpenAPI interactive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TIER 3: COMPUTATIONAL ENGINE &amp; ROUTING CORE</a:t>
            </a:r>
            <a:r>
              <a:rPr sz="1300" b="0">
                <a:solidFill>
                  <a:srgbClr val="94A3B8"/>
                </a:solidFill>
              </a:rPr>
              <a:t>   [NetworkX  •  OSMNx  •  NumPy  •  A* Heuristic Search  •  OSRM Engine]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Downloads &amp; caches regional road networks (.graphml). Executes A* search with Haversine distance heuristic, penalty-based alternative generator, and 1,000-run Monte Carlo simulation.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TIER 4: DATA PERSISTENCE &amp; LEARNING LOOP</a:t>
            </a:r>
            <a:r>
              <a:rPr sz="1300" b="0">
                <a:solidFill>
                  <a:srgbClr val="94A3B8"/>
                </a:solidFill>
              </a:rPr>
              <a:t>   [SQLite Database  •  SQLAlchemy ORM  •  Welford's Statistical ML Algorithm]</a:t>
            </a:r>
          </a:p>
          <a:p>
            <a:pPr>
              <a:spcBef>
                <a:spcPts val="400"/>
              </a:spcBef>
              <a:defRPr sz="1400">
                <a:solidFill>
                  <a:srgbClr val="F8FAFC"/>
                </a:solidFill>
              </a:defRPr>
            </a:pPr>
            <a:r>
              <a:t>Stores TripLogs, LockedRoutes, and SegmentMetrics. Uses Bayesian incremental updating to calibrate segment mean travel times (mu) and variance (sigma) from real trip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ALGORITHMIC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A* Road Routing &amp; Penalty-Based Diverse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09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ADMISSIBLE A* ROAD ROUTING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1. Haversine Distance Heuristic: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h(u, v) = Haversine(u, v) / Max_Speed (80 km/h)</a:t>
            </a:r>
            <a:br/>
            <a:r>
              <a:t>By dividing the great-circle spherical distance by maximum permissible velocity, the heuristic is mathematically guaranteed to be ADMISSIBLE (never overestimates travel time), yielding the provably shortest road path.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</a:defRPr>
            </a:pPr>
            <a:r>
              <a:t>2. Graph Optimization: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Pre-loads and caches regional road graphs (Vellore-Tiruvannamalai) into memory via GraphML. Uses fast spatial k-d tree lookup to snap GPS coordinates to the nearest road network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PENALTY-BASED ALTERNATIVE GENERATION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1. Iterative Edge Cost Inflation: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Cost'(e) = Cost(e) * (1 + Penalty_Factor)</a:t>
            </a:r>
            <a:br/>
            <a:r>
              <a:t>Edges traversed by the primary route are penalized by 30-50%. Running A* on the modified graph forces the search into distinct highway and state bypass corridors.</a:t>
            </a:r>
          </a:p>
          <a:p>
            <a:pPr>
              <a:spcBef>
                <a:spcPts val="1200"/>
              </a:spcBef>
              <a:defRPr sz="1600" b="1">
                <a:solidFill>
                  <a:srgbClr val="F8FAFC"/>
                </a:solidFill>
              </a:defRPr>
            </a:pPr>
            <a:r>
              <a:t>2. Strict Overlap Rejection Filter (&lt; 80%):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Calculates path edge overlap against previously accepted routes. Any candidate route sharing &gt; 80% path length is strictly REJECTED, ensuring commuters get truly independent physical alternatives.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MATHEMATICAL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Stochastic Monte Carlo Simulation &amp; Reliability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Monte Carlo Engine (1,000 Runs)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Every road segment has an expected duration (mu) and variance (sigma).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Simulates 1,000 independent random commuter journeys per route.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Captures unexpected traffic bottlenecks, railway crossings, and peak rush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63040"/>
            <a:ext cx="329184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On-Time Probability &amp; P90 Arrival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OTP % = (Runs arriving before deadline / 1,000) * 100%.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P90 Arrival Time: The arrival time guaranteed in 90% of simulated journeys.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Latest Safe Departure (LSD) = Deadline - P90 Travel Duration.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63040"/>
            <a:ext cx="329184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6459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Reliability Scoring Formula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Score = Buffer - (w1 * Variability) - (w2 * Wait Time) - (w3 * Transfers)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Configurable weights in config.py prioritize arrival buffer and penalize schedule instability.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</a:defRPr>
            </a:pPr>
            <a:r>
              <a:t>• Gives commuters a single, actionable 0-100 reliability index for instant decision-making.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MATHEMATICAL ASSURANCE: Commuters never depend on 'best-case' estimates — they get statistical proof of on-time arrival before stepping out of the door.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MACHINE LEARNING &amp; SELF-CALIBRATION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Self-Calibrating Commute: Bayesian Feedback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11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</a:defRPr>
            </a:pPr>
            <a:r>
              <a:t>Empirical Trip Telemetry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Commuters log actual departure &amp; arrival times via the /log endpoint. Trip logs record predicted duration vs actual road transit time, capturing seasonal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63040"/>
            <a:ext cx="342900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459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</a:defRPr>
            </a:pPr>
            <a:r>
              <a:t>Welford's Online Algorithm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Updates running segment mean (mu) and variance (sigma^2) in a single pass without re-training heavy neural networks: M_k = M_{k-1} + (x_k - M_{k-1})/k. Prevents numerical instability.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463040"/>
            <a:ext cx="342900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459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</a:defRPr>
            </a:pPr>
            <a:r>
              <a:t>Adaptive Hyper-Local Intelligence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As more commuters log trips, simulation accuracy increases automatically. Regional road works, monsoon delays, and checkpoint slowdowns reflect dynamically in future OTP % scores.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DATA PRIVACY BY DESIGN: All trip calibration is aggregated locally into SQLite segment metrics — zero personal movement tracking or third-party ad profiling.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COMMERCIAL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Business Model Canvas (BMC)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KEY PARTNERS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State Transit (TNSTC, Southern Railways)</a:t>
            </a:r>
            <a:br/>
            <a:r>
              <a:t>• Universities (VIT, Anna Univ)</a:t>
            </a:r>
            <a:br/>
            <a:r>
              <a:t>• OpenStreetMap contributors</a:t>
            </a:r>
            <a:br/>
            <a:r>
              <a:t>• Tech park shuttle operators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63040"/>
            <a:ext cx="34290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5544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KEY ACTIVITIES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Road graph caching &amp; A* routing</a:t>
            </a:r>
            <a:br/>
            <a:r>
              <a:t>• 1,000-run Monte Carlo simulation</a:t>
            </a:r>
            <a:br/>
            <a:r>
              <a:t>• PWA offline engine updates</a:t>
            </a:r>
            <a:br/>
            <a:r>
              <a:t>• Bayesian variance calibration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463040"/>
            <a:ext cx="34290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544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VALUE PROPOSITIONS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Guaranteed arrival probability (OTP %)</a:t>
            </a:r>
            <a:br/>
            <a:r>
              <a:t>• Proactive Latest Safe Departure (LSD)</a:t>
            </a:r>
            <a:br/>
            <a:r>
              <a:t>• Missed-transit contingency plans</a:t>
            </a:r>
            <a:br/>
            <a:r>
              <a:t>• 100% Zero Paid API costs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4290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CUSTOMER RELATIONSHIPS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Automated self-service PWA</a:t>
            </a:r>
            <a:br/>
            <a:r>
              <a:t>• Community trip verification logs</a:t>
            </a:r>
            <a:br/>
            <a:r>
              <a:t>• Zero intrusive tracking or ads</a:t>
            </a:r>
            <a:br/>
            <a:r>
              <a:t>• Touch-protected route locking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3063240"/>
            <a:ext cx="34290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31546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CUSTOMER SEGMENTS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University Students (75% attendance)</a:t>
            </a:r>
            <a:br/>
            <a:r>
              <a:t>• Shift workers &amp; healthcare staff</a:t>
            </a:r>
            <a:br/>
            <a:r>
              <a:t>• Daily corporate office commuters</a:t>
            </a:r>
            <a:br/>
            <a:r>
              <a:t>• Regional intercity travelers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063240"/>
            <a:ext cx="34290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31546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CHANNELS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Direct Web PWA (Zero app-store friction)</a:t>
            </a:r>
            <a:br/>
            <a:r>
              <a:t>• University student portals</a:t>
            </a:r>
            <a:br/>
            <a:r>
              <a:t>• Campus commuter ambassadors</a:t>
            </a:r>
            <a:br/>
            <a:r>
              <a:t>• Word-of-mouth student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34290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54879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KEY RESOURCES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Cached OSMnx road graphs</a:t>
            </a:r>
            <a:br/>
            <a:r>
              <a:t>• Proprietary reliability algorithms</a:t>
            </a:r>
            <a:br/>
            <a:r>
              <a:t>• SQLite historical telemetry</a:t>
            </a:r>
            <a:br/>
            <a:r>
              <a:t>• FastAPI &amp; React PWA codebase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4663440"/>
            <a:ext cx="34290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4754879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COST STRUCTURE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Ultra-low server hosting (FastAPI/SQLite)</a:t>
            </a:r>
            <a:br/>
            <a:r>
              <a:t>• Free OSM vector map tiles</a:t>
            </a:r>
            <a:br/>
            <a:r>
              <a:t>• Zero paid third-party API keys</a:t>
            </a:r>
            <a:br/>
            <a:r>
              <a:t>• Minimal devops &amp; maintenance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663440"/>
            <a:ext cx="34290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4754879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REVENUE STREAMS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B2B University Campus Attendance SaaS</a:t>
            </a:r>
            <a:br/>
            <a:r>
              <a:t>• Corporate Tech Park Commute Portals</a:t>
            </a:r>
            <a:br/>
            <a:r>
              <a:t>• Premium dynamic crowd-congestion alerts</a:t>
            </a:r>
            <a:br/>
            <a:r>
              <a:t>• Enterprise API licensing for transit fleets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MARKET ROLLOUT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Go-To-Market (GTM) Strategy: 3-Phase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13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PHASE 1 (MONTHS 1–3)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</a:defRPr>
            </a:pPr>
            <a:r>
              <a:t>Hyper-Local Campus Beachhead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Launch along the Katpadi – Vellore – Tiruvannamalai student corridor.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Target: 5,000 active student users facing strict morning 8:00 AM lab cutoffs.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Validate student attendance improvement and build core road variance dataset.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Zero download friction: Share direct PWA web link across campus student groups.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6304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PHASE 2 (MONTHS 4–8)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</a:defRPr>
            </a:pPr>
            <a:r>
              <a:t>High-Density Commute Expansion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Scale to major Indian commute corridors: Chennai-Bengaluru, Mumbai-Pune.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Integrate public transit GTFS timetables for Suburban Trains and State Buses.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Launch crowdsourced trip logging incentives to reward accurate delay reports.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Introduce multi-modal cab + transit dynamic split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463040"/>
            <a:ext cx="34290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4592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PHASE 3 (MONTHS 9–12)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</a:defRPr>
            </a:pPr>
            <a:r>
              <a:t>B2B Enterprise &amp; Institutional Licensing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Partner with IT Parks (OMR Chennai, Whitefield Bengaluru) for employee arrival tracking.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Offer universities customized White-Label Attendance Protection Portals.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Monetize corporate shuttle route optimization and fleet reliability analytics.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• Position Mobility Recovery Engine as India's gold standard in punctual transit.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MARKET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Competitive Landscape: Why We Stand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926080" cy="530352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2743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FEATURE / 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2464" y="1463040"/>
            <a:ext cx="2468880" cy="530352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3904" y="1536192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GOOGLE / APPLE MAPS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63040"/>
            <a:ext cx="2468880" cy="530352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536192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MOOVIT / CITYMAPPER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9952" y="1463040"/>
            <a:ext cx="2864815" cy="530352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1536192"/>
            <a:ext cx="268193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MOBILITY RECOVERY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066543"/>
            <a:ext cx="29260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139696"/>
            <a:ext cx="2743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Core Optimization Goal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12464" y="2066543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2139696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Shortest Path / Nominal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066543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139696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Fixed Schedule Arrival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9952" y="2066543"/>
            <a:ext cx="2864815" cy="530352"/>
          </a:xfrm>
          <a:prstGeom prst="roundRect">
            <a:avLst/>
          </a:prstGeom>
          <a:solidFill>
            <a:srgbClr val="1A2E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2139696"/>
            <a:ext cx="268193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Arrival Deadline Probability (OTP 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670048"/>
            <a:ext cx="29260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743200"/>
            <a:ext cx="2743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Traffic Uncertainty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12464" y="2670048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3904" y="2743200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Static live traffic heatmaps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670048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2743200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Static scheduled timetable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59952" y="2670048"/>
            <a:ext cx="2864815" cy="530352"/>
          </a:xfrm>
          <a:prstGeom prst="roundRect">
            <a:avLst/>
          </a:prstGeom>
          <a:solidFill>
            <a:srgbClr val="1A2E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51392" y="2743200"/>
            <a:ext cx="268193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1,000-Run Monte Carlo Simulation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273552"/>
            <a:ext cx="29260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346704"/>
            <a:ext cx="2743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Proactive Recovery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12464" y="3273552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03904" y="3346704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None (Reroutes only post-jam)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273552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3346704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Shows next scheduled bus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59952" y="3273552"/>
            <a:ext cx="2864815" cy="530352"/>
          </a:xfrm>
          <a:prstGeom prst="roundRect">
            <a:avLst/>
          </a:prstGeom>
          <a:solidFill>
            <a:srgbClr val="1A2E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1392" y="3346704"/>
            <a:ext cx="268193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Dynamic Latest Safe Departure + Backup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877056"/>
            <a:ext cx="29260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950208"/>
            <a:ext cx="2743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Diverse Alternatives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12464" y="3877056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03904" y="3950208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1-2 minor road variations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3877056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3950208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Timetable legs only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59952" y="3877056"/>
            <a:ext cx="2864815" cy="530352"/>
          </a:xfrm>
          <a:prstGeom prst="roundRect">
            <a:avLst/>
          </a:prstGeom>
          <a:solidFill>
            <a:srgbClr val="1A2E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51392" y="3950208"/>
            <a:ext cx="268193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&gt;= 3 Guaranteed Distinct (&lt;80% Overlap)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480560"/>
            <a:ext cx="29260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553712"/>
            <a:ext cx="2743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Accidental Touch Guard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712464" y="4480560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03904" y="4553712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None (Screen touch reroutes)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6208" y="4480560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4553712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None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9952" y="4480560"/>
            <a:ext cx="2864815" cy="530352"/>
          </a:xfrm>
          <a:prstGeom prst="roundRect">
            <a:avLst/>
          </a:prstGeom>
          <a:solidFill>
            <a:srgbClr val="1A2E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51392" y="4553712"/>
            <a:ext cx="268193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Route Lock with Confirmation Dialog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084064"/>
            <a:ext cx="29260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157216"/>
            <a:ext cx="2743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Offline Autonomy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712464" y="5084064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03904" y="5157216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Requires manual map download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36208" y="5084064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5157216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Requires active data plan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59952" y="5084064"/>
            <a:ext cx="2864815" cy="530352"/>
          </a:xfrm>
          <a:prstGeom prst="roundRect">
            <a:avLst/>
          </a:prstGeom>
          <a:solidFill>
            <a:srgbClr val="1A2E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51392" y="5157216"/>
            <a:ext cx="268193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Full PWA Service Worker + Local Cache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5687567"/>
            <a:ext cx="29260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5760719"/>
            <a:ext cx="2743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API Licensing Cost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712464" y="5687567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03904" y="5760719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Very expensive ($$$ per call)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36208" y="5687567"/>
            <a:ext cx="2468880" cy="53035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27648" y="5760719"/>
            <a:ext cx="22860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8FAFC"/>
                </a:solidFill>
              </a:defRPr>
            </a:pPr>
            <a:r>
              <a:t>Proprietary paid licenses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59952" y="5687567"/>
            <a:ext cx="2864815" cy="530352"/>
          </a:xfrm>
          <a:prstGeom prst="roundRect">
            <a:avLst/>
          </a:prstGeom>
          <a:solidFill>
            <a:srgbClr val="1A2E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51392" y="5760719"/>
            <a:ext cx="268193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100% Free &amp; Open-Source (Zero Paid APIs)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Never Late Again: The Future of Commute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94A3B8"/>
                </a:solidFill>
              </a:defRPr>
            </a:pPr>
            <a:r>
              <a:t>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KEY PROJECT TAKEAWAYS</a:t>
            </a:r>
          </a:p>
          <a:p>
            <a:pPr>
              <a:spcBef>
                <a:spcPts val="1000"/>
              </a:spcBef>
              <a:defRPr sz="1500" b="1">
                <a:solidFill>
                  <a:srgbClr val="10B981"/>
                </a:solidFill>
              </a:defRPr>
            </a:pPr>
            <a:r>
              <a:t>• Mathematical Arrival Certainty:</a:t>
            </a:r>
          </a:p>
          <a:p>
            <a:pPr>
              <a:spcBef>
                <a:spcPts val="200"/>
              </a:spcBef>
              <a:defRPr sz="1400">
                <a:solidFill>
                  <a:srgbClr val="F8FAFC"/>
                </a:solidFill>
              </a:defRPr>
            </a:pPr>
            <a:r>
              <a:t>  Pioneers deadline-driven routing replacing blind shortest-path navigation with empirical on-time probabilities.</a:t>
            </a:r>
          </a:p>
          <a:p>
            <a:pPr>
              <a:spcBef>
                <a:spcPts val="1000"/>
              </a:spcBef>
              <a:defRPr sz="1500" b="1">
                <a:solidFill>
                  <a:srgbClr val="10B981"/>
                </a:solidFill>
              </a:defRPr>
            </a:pPr>
            <a:r>
              <a:t>• Production-Ready Full-Stack System:</a:t>
            </a:r>
          </a:p>
          <a:p>
            <a:pPr>
              <a:spcBef>
                <a:spcPts val="200"/>
              </a:spcBef>
              <a:defRPr sz="1400">
                <a:solidFill>
                  <a:srgbClr val="F8FAFC"/>
                </a:solidFill>
              </a:defRPr>
            </a:pPr>
            <a:r>
              <a:t>  Built with modern FastAPI, React PWA, Leaflet, and SQLite, running 100% locally with zero paid API keys.</a:t>
            </a:r>
          </a:p>
          <a:p>
            <a:pPr>
              <a:spcBef>
                <a:spcPts val="1000"/>
              </a:spcBef>
              <a:defRPr sz="1500" b="1">
                <a:solidFill>
                  <a:srgbClr val="10B981"/>
                </a:solidFill>
              </a:defRPr>
            </a:pPr>
            <a:r>
              <a:t>• Commuter Stress Elimination:</a:t>
            </a:r>
          </a:p>
          <a:p>
            <a:pPr>
              <a:spcBef>
                <a:spcPts val="200"/>
              </a:spcBef>
              <a:defRPr sz="1400">
                <a:solidFill>
                  <a:srgbClr val="F8FAFC"/>
                </a:solidFill>
              </a:defRPr>
            </a:pPr>
            <a:r>
              <a:t>  Gives students and workers peace of mind with live Latest Safe Departure (LSD) countdowns and emergency contingency routes.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FUTURE HORIZONS &amp; ROADMAP</a:t>
            </a:r>
          </a:p>
          <a:p>
            <a:pPr>
              <a:spcBef>
                <a:spcPts val="1000"/>
              </a:spcBef>
              <a:defRPr sz="1500" b="1">
                <a:solidFill>
                  <a:srgbClr val="06B6D4"/>
                </a:solidFill>
              </a:defRPr>
            </a:pPr>
            <a:r>
              <a:t>• Real-Time Crowdsourced Bus Beacons:</a:t>
            </a:r>
          </a:p>
          <a:p>
            <a:pPr>
              <a:spcBef>
                <a:spcPts val="200"/>
              </a:spcBef>
              <a:defRPr sz="1400">
                <a:solidFill>
                  <a:srgbClr val="F8FAFC"/>
                </a:solidFill>
              </a:defRPr>
            </a:pPr>
            <a:r>
              <a:t>  Integrate low-cost Bluetooth/GPS telemetry from commuter phones to track live government bus positions.</a:t>
            </a:r>
          </a:p>
          <a:p>
            <a:pPr>
              <a:spcBef>
                <a:spcPts val="1000"/>
              </a:spcBef>
              <a:defRPr sz="1500" b="1">
                <a:solidFill>
                  <a:srgbClr val="06B6D4"/>
                </a:solidFill>
              </a:defRPr>
            </a:pPr>
            <a:r>
              <a:t>• Monsoon &amp; Weather Impact Modeling:</a:t>
            </a:r>
          </a:p>
          <a:p>
            <a:pPr>
              <a:spcBef>
                <a:spcPts val="200"/>
              </a:spcBef>
              <a:defRPr sz="1400">
                <a:solidFill>
                  <a:srgbClr val="F8FAFC"/>
                </a:solidFill>
              </a:defRPr>
            </a:pPr>
            <a:r>
              <a:t>  Incorporate live precipitation radar data to predict waterlogging speed penalties across Indian state highways.</a:t>
            </a:r>
          </a:p>
          <a:p>
            <a:pPr>
              <a:spcBef>
                <a:spcPts val="1000"/>
              </a:spcBef>
              <a:defRPr sz="1500" b="1">
                <a:solidFill>
                  <a:srgbClr val="06B6D4"/>
                </a:solidFill>
              </a:defRPr>
            </a:pPr>
            <a:r>
              <a:t>• Dynamic Rideshare Split Recovery:</a:t>
            </a:r>
          </a:p>
          <a:p>
            <a:pPr>
              <a:spcBef>
                <a:spcPts val="200"/>
              </a:spcBef>
              <a:defRPr sz="1400">
                <a:solidFill>
                  <a:srgbClr val="F8FAFC"/>
                </a:solidFill>
              </a:defRPr>
            </a:pPr>
            <a:r>
              <a:t>  Automatically summon auto-rickshaws or cabs to bridge connection gaps whenever a primary bus is delayed.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